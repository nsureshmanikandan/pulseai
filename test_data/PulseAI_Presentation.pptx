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548640"/>
            <a:ext cx="822960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943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PulseAI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1704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</a:rPr>
              <a:t>Data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Turn Raw Data Into
Decisions — Instantly.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375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</a:rPr>
              <a:t>Enterprise-grade AI analytics platform that transforms
Excel &amp; CSV files into executive dashboards, AI-powered
insights, and interactive data stories — in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29200"/>
            <a:ext cx="15544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029200"/>
            <a:ext cx="36576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50474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200+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53218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Rows Analyzed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80" y="5029200"/>
            <a:ext cx="15544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40280" y="5029200"/>
            <a:ext cx="36576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50008" y="50474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53218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Tab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5029200"/>
            <a:ext cx="15544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77639" y="5029200"/>
            <a:ext cx="36576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87368" y="50474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GPT-4o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87368" y="53218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AI Engine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28600"/>
            <a:ext cx="5577840" cy="6400800"/>
          </a:xfrm>
          <a:prstGeom prst="rect">
            <a:avLst/>
          </a:prstGeom>
          <a:solidFill>
            <a:srgbClr val="060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28600"/>
            <a:ext cx="36576" cy="640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20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</a:rPr>
              <a:t>LIVE DEMO SNAPSHOT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731520"/>
            <a:ext cx="1645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731520"/>
            <a:ext cx="36576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749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B82F6"/>
                </a:solidFill>
              </a:rPr>
              <a:t>$12.4M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111556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Total Loans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731520"/>
            <a:ext cx="1645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75319" y="731520"/>
            <a:ext cx="36576" cy="8229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5047" y="749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F4444"/>
                </a:solidFill>
              </a:rPr>
              <a:t>18%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7" y="111556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Default 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0" y="731520"/>
            <a:ext cx="1645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58400" y="731520"/>
            <a:ext cx="36576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68128" y="749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</a:rPr>
              <a:t>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8128" y="111556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Avg Credit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1737360"/>
            <a:ext cx="5120640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1783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Distribution of Principal Amount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3154679"/>
            <a:ext cx="329184" cy="182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86016" y="2953512"/>
            <a:ext cx="329184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88352" y="2752344"/>
            <a:ext cx="329184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90688" y="2551176"/>
            <a:ext cx="329184" cy="7863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93024" y="2350008"/>
            <a:ext cx="329184" cy="9875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595360" y="3154679"/>
            <a:ext cx="329184" cy="1828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97696" y="2953512"/>
            <a:ext cx="329184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400032" y="2752344"/>
            <a:ext cx="329184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02368" y="2551176"/>
            <a:ext cx="329184" cy="78638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04704" y="2350008"/>
            <a:ext cx="329184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07040" y="3154679"/>
            <a:ext cx="329184" cy="1828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009376" y="2953512"/>
            <a:ext cx="329184" cy="3840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92240" y="3749039"/>
            <a:ext cx="512064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0" y="379476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Loan Status Breakdown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4160520"/>
            <a:ext cx="2468879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0" y="416052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PAIDOFF  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4572000"/>
            <a:ext cx="82296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0" y="457200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COLLECTION  20%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4983480"/>
            <a:ext cx="82296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0" y="49834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COL_PAIDOFF  20%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Powered by GPT-4o  |  Accenture GenAI Gateway  |  Built on React + FastAPI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Why organizations struggle with their data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164592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246888"/>
            <a:ext cx="15544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CHALLENGE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2161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1795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 Trapped in Spreadsheets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41732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Finance teams spend 70% of their time manually formatting Excel files rather than making decisions from the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01368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01368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1837943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 Benefits Locked Behind Technical Barriers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0756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Data science queries, Python notebooks, and SQL skills are required just to answer a simple business question.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59736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459736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53288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⏱️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49631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Slow Time-to-Insight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73405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Executive reports take days to prepare. By the time insights reach leadership, the window for action has passed.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18104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118104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19125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1546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 Cross-Tab Relationship Visibility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39242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Multi-sheet Excel workbooks contain hidden relationships between data — but no tool surfaces them automatically.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76472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76472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3849624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81304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Generic Dashboards, Not Business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405079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Existing BI tools show charts but cannot explain what the data means in plain English for non-technical stakeholders.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126480"/>
            <a:ext cx="11247120" cy="502920"/>
          </a:xfrm>
          <a:prstGeom prst="rect">
            <a:avLst/>
          </a:prstGeom>
          <a:solidFill>
            <a:srgbClr val="3B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61722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CA5A5"/>
                </a:solidFill>
              </a:rPr>
              <a:t>Result: Missed opportunities, delayed decisions, and a growing gap between data availability and business 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Introducing PulseAI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One platform. Any data file. Instant intelligence.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164592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246888"/>
            <a:ext cx="15544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21031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B82F6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UPLOAD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Drag &amp; drop Excel
or CSV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79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97479" y="1188720"/>
            <a:ext cx="2103120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366F1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ANALYZE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Auto schema detect
+ relationship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2860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1188720"/>
            <a:ext cx="21031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VISUALIZE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6+ auto-charts
+ KPI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</a:rPr>
              <a:t>-&gt;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60919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60919" y="1188720"/>
            <a:ext cx="21031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59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59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ASK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59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Natural language
questions &amp; tables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59" y="22860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92640" y="1188720"/>
            <a:ext cx="21031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F4444"/>
                </a:solidFill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DECIDE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Actionable insights
in plain English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480560"/>
            <a:ext cx="2743200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48056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&lt; 2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BD5E1"/>
                </a:solidFill>
              </a:rPr>
              <a:t>Time to first insight after upload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4480560"/>
            <a:ext cx="2743200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91840" y="448056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2900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Zero code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BD5E1"/>
                </a:solidFill>
              </a:rPr>
              <a:t>No SQL, Python, or BI training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480560"/>
            <a:ext cx="2743200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448056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GPT-4o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BD5E1"/>
                </a:solidFill>
              </a:rPr>
              <a:t>Powered by frontier AI for accurate analysis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0" y="4480560"/>
            <a:ext cx="2743200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0" y="448056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8116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Any data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8116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BD5E1"/>
                </a:solidFill>
              </a:rPr>
              <a:t>Finance, HR, Sales, Operations — all domains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CBD5E1"/>
                </a:solidFill>
              </a:rPr>
              <a:t>PulseAI bridges the gap between raw data files and confident business decisions — for every user, not just data scientists.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Modern cloud-native stack — React frontend + FastAPI backend + GPT-4o AI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28600"/>
            <a:ext cx="192024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246888"/>
            <a:ext cx="18288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1188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4864" cy="1188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161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</a:rPr>
              <a:t>FRONTEND  (React 18 + Vite + TypeScript)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Executive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0992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Analyst Workbench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892807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AI Chat (WebSocket)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Data Sources 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527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Zustand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70992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Plotly.js 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892807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ReactMarkdown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075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Tailwind 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96312"/>
            <a:ext cx="11430000" cy="1188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54864" cy="1188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5694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</a:rPr>
              <a:t>BACKEND API  (FastAPI + Python 3.13)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8803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/api/datasets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063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/api/analytics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461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/api/ai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4290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/ws/chat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28803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SQLAlchemy 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063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Uvicorn ASGI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2461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Pydantic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4290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CORS middleware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49624"/>
            <a:ext cx="11430000" cy="1188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849624"/>
            <a:ext cx="54864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92277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AI ENGINE  (Accenture GenAI Gateway)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23367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GPT-4o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4165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Narrative Generator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994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Insight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823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Suggested 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423367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AccentureLbpassLLM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44165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lbpass API key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45994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Azure OpenAI endpoint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7823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Streaming support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02936"/>
            <a:ext cx="11430000" cy="1188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202936"/>
            <a:ext cx="54864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2760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DATA LAYER  (SQLite + Local Storage)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586983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Dataset registry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7698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Tab profiles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95274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Relationships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135623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Chat sessions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5586983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openpyxl parser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0" y="57698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pandas DataFrames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595274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Schema detector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6135623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Relationship finder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338560" y="1143000"/>
            <a:ext cx="502920" cy="541324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92840" y="32918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DATA FLOW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84280" y="21488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v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84280" y="35021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84280" y="485546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1 — Executive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Auto-generated KPIs, AI narrative, and 6 chart types from any uploaded dataset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28600"/>
            <a:ext cx="192024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246888"/>
            <a:ext cx="18288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LIVE 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858000" cy="5394960"/>
          </a:xfrm>
          <a:prstGeom prst="rect">
            <a:avLst/>
          </a:prstGeom>
          <a:solidFill>
            <a:srgbClr val="060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</a:rPr>
              <a:t>FinanceData_MultiTab.xlsx  |  Loans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150876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910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$2.1M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Total 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554480"/>
            <a:ext cx="150876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40280" y="15910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</a:rPr>
              <a:t>$11.7K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90195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Avg EMI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1554480"/>
            <a:ext cx="150876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5910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14%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190195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Default 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1554480"/>
            <a:ext cx="150876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15910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742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190195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Avg Credit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658368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487168"/>
            <a:ext cx="36576" cy="685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5237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</a:rPr>
              <a:t>AI Narrative: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76148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CBD5E1"/>
                </a:solidFill>
              </a:rPr>
              <a:t>"The Loans dataset shows 180 active loans totalling $2.1M. 14% are in Default or Watch status,
concentrated in Personal and Revolving Credit types. Customers aged 35-50 carry the highest balances."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91840"/>
            <a:ext cx="310896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33756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Principal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24527"/>
            <a:ext cx="292608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7552" y="4059935"/>
            <a:ext cx="292608" cy="301751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35024" y="3895344"/>
            <a:ext cx="292608" cy="4663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682496" y="3730751"/>
            <a:ext cx="292608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29968" y="4224527"/>
            <a:ext cx="292608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77440" y="4059935"/>
            <a:ext cx="292608" cy="301751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24912" y="3895344"/>
            <a:ext cx="292608" cy="4663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72384" y="3730751"/>
            <a:ext cx="292608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0" y="3291840"/>
            <a:ext cx="310896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0" y="333756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Loan Status Breakdown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77640" y="3639312"/>
            <a:ext cx="1645919" cy="2377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977640" y="3931920"/>
            <a:ext cx="548640" cy="2377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77640" y="4224528"/>
            <a:ext cx="548640" cy="2377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11155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B82F6"/>
                </a:solidFill>
              </a:rPr>
              <a:t>WHAT YOU GET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98079" y="1463040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79" y="1463040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7808" y="148132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KPI Cards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07808" y="1737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Auto-computes sum, avg, min, max for every numeric column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79" y="2212848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2212848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7808" y="223113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AI Narrative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07808" y="24871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GPT-4o writes a plain-English paragraph describing the dataset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79" y="2962656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98079" y="2962656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07808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6 Chart Types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07808" y="323697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Histogram, scatter, heatmap, box plots, bar, donut — all automatic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98079" y="3712464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8079" y="3712464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07808" y="373075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Outlier Alerts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07808" y="398678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Flags anomalies and statistical warnings in the data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79" y="4462272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98079" y="4462272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07808" y="44805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Tab Switching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07808" y="473659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Navigate between Excel tabs — each gets its own full dashboard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79" y="5212079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98079" y="5212079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7808" y="52303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Animated Loading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07808" y="54864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Enterprise-grade shimmer skeletons and progress bar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2 — AI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Ask questions in plain English — get tables, insights, and analysis powered by GPT-4o</a:t>
            </a:r>
          </a:p>
        </p:txBody>
      </p:sp>
      <p:sp>
        <p:nvSpPr>
          <p:cNvPr id="6" name="Rectangle 5"/>
          <p:cNvSpPr/>
          <p:nvPr/>
        </p:nvSpPr>
        <p:spPr>
          <a:xfrm>
            <a:off x="9418320" y="228600"/>
            <a:ext cx="210312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64040" y="246888"/>
            <a:ext cx="201167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GPT-4o POWERED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858000" cy="5394960"/>
          </a:xfrm>
          <a:prstGeom prst="rect">
            <a:avLst/>
          </a:prstGeom>
          <a:solidFill>
            <a:srgbClr val="060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704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AI Chat  |  FinanceData_MultiTab.xlsx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43000"/>
            <a:ext cx="1005840" cy="274320"/>
          </a:xfrm>
          <a:prstGeom prst="rect">
            <a:avLst/>
          </a:prstGeom>
          <a:solidFill>
            <a:srgbClr val="05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59" y="11612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0B981"/>
                </a:solidFill>
              </a:rPr>
              <a:t>Connected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08760"/>
            <a:ext cx="658368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619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SUGGESTED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755648"/>
            <a:ext cx="150876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810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Top 10 by Principal?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1755648"/>
            <a:ext cx="150876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8568" y="1810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Default customers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94760" y="1755648"/>
            <a:ext cx="150876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1810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Credit score dist.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1755648"/>
            <a:ext cx="150876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58968" y="1810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Group by loan type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2487168"/>
            <a:ext cx="4114800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54203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Show top 10 loans by outstanding_balance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35808"/>
            <a:ext cx="6583680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09067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090672"/>
            <a:ext cx="411480" cy="3474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0723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Top 10 Loans by Outstanding Balance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3401568"/>
            <a:ext cx="6400800" cy="274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LOAN_ID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496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CUSTOMER_ID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06624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TYPE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0752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AMOUNT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OUTSTANDING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STATUS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03320"/>
            <a:ext cx="6400800" cy="3108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L00042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82496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C00182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06624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Mortgage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30752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$500K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$478K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79008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" y="4032504"/>
            <a:ext cx="6400800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L00091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82496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C00034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06624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Business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30752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$250K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$241K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79008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" y="4361688"/>
            <a:ext cx="6400800" cy="3108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82496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C00156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06624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Mortgage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30752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$250K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$237K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9008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59E0B"/>
                </a:solidFill>
              </a:rPr>
              <a:t>Watch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" y="4690872"/>
            <a:ext cx="6400800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L00063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82496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C00099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06624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Personal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30752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$100K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0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$98K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79008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F4444"/>
                </a:solidFill>
              </a:rPr>
              <a:t>Default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4360" y="5020056"/>
            <a:ext cx="6400800" cy="3108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L00128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82496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C00071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06624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Auto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30752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$50K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$49K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79008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4360" y="54406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9E0B"/>
                </a:solidFill>
              </a:rPr>
              <a:t>Total: 10 loans shown | Combined outstanding: $1.23M | 2 require immediate attention (Watch/Default)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8079" y="11155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366F1"/>
                </a:solidFill>
              </a:rPr>
              <a:t>CAPABILITIES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498079" y="1463040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98079" y="1463040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7808" y="148132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Table Queries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07808" y="1737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Show top/bottom N, filter by condition, group-by, cross-tab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98079" y="2212848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498079" y="2212848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07808" y="223113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Smart Detection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07808" y="24871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Detects question type — analytics vs tabular — automatically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98079" y="2962656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498079" y="2962656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607808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Real Data Rows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07808" y="323697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Pre-filters actual DataFrame before sending to GPT-4o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98079" y="3712464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498079" y="3712464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07808" y="373075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10 Smart Questions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07808" y="398678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Dataset-specific questions generated on upload per tab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498079" y="4462272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498079" y="4462272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607808" y="44805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GFM Tables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07808" y="473659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Markdown tables rendered with zebra rows and hover highlights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498079" y="5212079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98079" y="5212079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607808" y="52303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NLP Summary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07808" y="54864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Every table answer includes a plain-English insight paragraph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3 — Analyst Workbench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Build any custom chart with point-and-click column selection — no code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28600"/>
            <a:ext cx="19202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246888"/>
            <a:ext cx="18288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SELF-SERVICE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858000" cy="5394960"/>
          </a:xfrm>
          <a:prstGeom prst="rect">
            <a:avLst/>
          </a:prstGeom>
          <a:solidFill>
            <a:srgbClr val="060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704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Analyst Workbench  |  Loans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65836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5727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CHART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5727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X 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5727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Y AXIS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792224"/>
            <a:ext cx="13716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0" y="1792224"/>
            <a:ext cx="13716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1792224"/>
            <a:ext cx="13716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810512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Bar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1810512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loan_type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181051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outstanding_balance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1719072"/>
            <a:ext cx="1371600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0" y="179222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Generate Chart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267712"/>
            <a:ext cx="6583680" cy="3931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3408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Outstanding Balance by Loan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763670"/>
            <a:ext cx="822960" cy="199704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Personal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91639" y="3405225"/>
            <a:ext cx="822960" cy="235549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91639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Mortgage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24911" y="4608576"/>
            <a:ext cx="822960" cy="11521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24911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Auto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58183" y="3507638"/>
            <a:ext cx="822960" cy="2253081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3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Business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91455" y="4173321"/>
            <a:ext cx="822960" cy="158739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5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Education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24727" y="4864608"/>
            <a:ext cx="822960" cy="89611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24727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Revolving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11155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AVAILABLE CHART TYPES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98079" y="14630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98079" y="1463040"/>
            <a:ext cx="36576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07807" y="15361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807" y="18653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Compare categories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84080" y="14630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84080" y="1463040"/>
            <a:ext cx="36576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93807" y="15361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7" y="18653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Find correlations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98079" y="23774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98079" y="2377440"/>
            <a:ext cx="36576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07807" y="24505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Histogram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7807" y="27797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View distributions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4080" y="23774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784080" y="2377440"/>
            <a:ext cx="36576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93807" y="24505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Box Plot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93807" y="27797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Detect outliers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32918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8079" y="3291840"/>
            <a:ext cx="36576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07807" y="33649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Heatmap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07807" y="36941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Correlation matrix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84080" y="32918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784080" y="3291840"/>
            <a:ext cx="36576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93807" y="33649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Pie / Donut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3807" y="36941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Show proportions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79" y="4315968"/>
            <a:ext cx="4389120" cy="1280160"/>
          </a:xfrm>
          <a:prstGeom prst="rect">
            <a:avLst/>
          </a:prstGeom>
          <a:solidFill>
            <a:srgbClr val="05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498079" y="4315968"/>
            <a:ext cx="36576" cy="128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07808" y="437083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Self-Service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46634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BD5E1"/>
                </a:solidFill>
              </a:rPr>
              <a:t>Any analyst can build production-quality charts
without waiting for a data science team.
Point, click, and generate — instantly.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Business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Real-world scenarios where PulseAI delivers immediate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9784080" y="228600"/>
            <a:ext cx="17373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246888"/>
            <a:ext cx="164591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USE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2514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57784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52728"/>
            <a:ext cx="2286000" cy="347472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7101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B82F6"/>
                </a:solidFill>
              </a:rPr>
              <a:t>Banking &amp; Financial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Risk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39112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Upload loan portfolio data. Instantly identify default-risk customers (DPD &gt; 60),
outstanding balance concentration, and collateral coverage gaps.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70992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B82F6"/>
                </a:solidFill>
              </a:rPr>
              <a:t>-&gt; Loan default 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13969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B82F6"/>
                </a:solidFill>
              </a:rPr>
              <a:t>-&gt; Portfolio concentration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56946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B82F6"/>
                </a:solidFill>
              </a:rPr>
              <a:t>-&gt; Credit score 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99923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B82F6"/>
                </a:solidFill>
              </a:rPr>
              <a:t>-&gt; Cross-tab: loan type vs 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143000"/>
            <a:ext cx="5577840" cy="2514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143000"/>
            <a:ext cx="55778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252728"/>
            <a:ext cx="2286000" cy="347472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27101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0B981"/>
                </a:solidFill>
              </a:rPr>
              <a:t>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Claims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039112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Analyze claims history CSV. Spot high-frequency claimants, fraud indicators,
and seasonal patterns without any SQL or BI tool setup.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170992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0B981"/>
                </a:solidFill>
              </a:rPr>
              <a:t>-&gt; High-value claims 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13969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0B981"/>
                </a:solidFill>
              </a:rPr>
              <a:t>-&gt; Fraud pattern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56946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0B981"/>
                </a:solidFill>
              </a:rPr>
              <a:t>-&gt; Regional claim frequency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299923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0B981"/>
                </a:solidFill>
              </a:rPr>
              <a:t>-&gt; Policy type breakdown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840480"/>
            <a:ext cx="5577840" cy="2514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3840480"/>
            <a:ext cx="557784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50208"/>
            <a:ext cx="2286000" cy="347472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9684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6366F1"/>
                </a:solidFill>
              </a:rPr>
              <a:t>Retail &amp; E-Commerce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389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Sales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36592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Drop in monthly sales Excel. Get instant revenue KPIs, top/bottom product
performers, regional breakdowns, and AI-written executive summary.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440740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366F1"/>
                </a:solidFill>
              </a:rPr>
              <a:t>-&gt; Top 10 products by revenue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483717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366F1"/>
                </a:solidFill>
              </a:rPr>
              <a:t>-&gt; Region vs category cross-tab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526694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366F1"/>
                </a:solidFill>
              </a:rPr>
              <a:t>-&gt; Return rate outliers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569671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366F1"/>
                </a:solidFill>
              </a:rPr>
              <a:t>-&gt; Month-over-month trend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3840480"/>
            <a:ext cx="5577840" cy="2514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3840480"/>
            <a:ext cx="55778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3950208"/>
            <a:ext cx="2286000" cy="347472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9684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HR &amp; Workforce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389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People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736592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Upload headcount data. Identify attrition risks, compensation outliers,
department overstaffing, and diversity metrics in minutes.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40740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59E0B"/>
                </a:solidFill>
              </a:rPr>
              <a:t>-&gt; Attrition risk table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0" y="483717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59E0B"/>
                </a:solidFill>
              </a:rPr>
              <a:t>-&gt; Salary distribution by grade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526694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59E0B"/>
                </a:solidFill>
              </a:rPr>
              <a:t>-&gt; Tenure vs performance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569671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59E0B"/>
                </a:solidFill>
              </a:rPr>
              <a:t>-&gt; Department headcount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ROI &amp; Business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Quantified value delivered to teams and leadership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28600"/>
            <a:ext cx="1005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246888"/>
            <a:ext cx="914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27432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27432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3B82F6"/>
                </a:solidFill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faster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Time to insight vs manual Excel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097280"/>
            <a:ext cx="27432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097280"/>
            <a:ext cx="27432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20700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0B981"/>
                </a:solidFill>
              </a:rPr>
              <a:t>Zero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No SQL, Python, or BI tool training needed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097280"/>
            <a:ext cx="27432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097280"/>
            <a:ext cx="27432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20700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59E0B"/>
                </a:solidFill>
              </a:rPr>
              <a:t>&lt;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From file upload to first actionable insight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1097280"/>
            <a:ext cx="27432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97280"/>
            <a:ext cx="274320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20700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6366F1"/>
                </a:solidFill>
              </a:rPr>
              <a:t>10x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more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Questions answered per analyst per day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5577840" cy="1691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834640"/>
            <a:ext cx="36576" cy="1691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9260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For Business Leaders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2918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Board-ready dashboards in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5661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AI-written narrative — no analyst needed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8404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Confident decisions from real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1148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All tabs in one unified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834640"/>
            <a:ext cx="5577840" cy="1691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834640"/>
            <a:ext cx="36576" cy="1691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9260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</a:rPr>
              <a:t>For Data Analysts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2918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Skip manual chart building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35661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Self-service — no IT dependency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8404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Custom charts with 2 clicks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1148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Export-ready Plotly visualizations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709160"/>
            <a:ext cx="5577840" cy="1691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709160"/>
            <a:ext cx="36576" cy="169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8006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For IT &amp; Data Teams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1663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Zero infrastructure change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4406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Works with existing Excel/CSV files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715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SQLite local DB — no data leaves your env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9893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Pluggable LLM — swap GPT-4o anytime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709160"/>
            <a:ext cx="5577840" cy="1691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920" y="4709160"/>
            <a:ext cx="36576" cy="169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48006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For Finance &amp; Risk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1663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Instant loan portfolio risk view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5080" y="54406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Default &amp; outlier auto-detection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5080" y="5715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Cross-tab drill-down without SQL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59893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Regulatory-ready audit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Enterprise-grade, cloud-native, production-ready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28600"/>
            <a:ext cx="192024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246888"/>
            <a:ext cx="18288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TECH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365760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</a:rPr>
              <a:t>FRONTEND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62763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664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UI framework with hooks &amp; Zustand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2377440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4140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TypeScript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700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Type-safe component development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127248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1638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Vite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419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Lightning-fast dev server &amp; bundler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3877056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9136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Tailwind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69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Utility-first dark-mode design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4626864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Plotly.js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919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Interactive charts &amp; visualizations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37667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413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react-markdown + GFM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6927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Formatted AI responses with tables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9392" y="1097280"/>
            <a:ext cx="365760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1097280"/>
            <a:ext cx="365760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16552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162763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2" y="1664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7992" y="19202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Async Python REST + WebSocket API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2377440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07992" y="24140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SQLAlchemy 2.x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7992" y="26700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ORM with SQLite (local) / PostgreSQL (prod)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3127248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07992" y="31638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Uvicorn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7992" y="3419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ASGI server — production-grade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3877056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07992" y="39136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Pydantic v2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7992" y="4169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Data validation &amp; settings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4626864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07992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pandas 2.2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7992" y="4919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DataFrame processing &amp; analysis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537667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07992" y="5413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openpyxl 3.1.5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07992" y="566927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Excel file parsing (multi-tab support)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93024" y="1097280"/>
            <a:ext cx="365760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93024" y="1097280"/>
            <a:ext cx="36576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30184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AI &amp; INTEGRATION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02752" y="162763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21624" y="1664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GPT-4o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21624" y="19202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Frontier LLM for analysis &amp; narrative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02752" y="2377440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21624" y="24140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Accenture lbpass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21624" y="26700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Enterprise GenAI gateway (secure)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2752" y="3127248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21624" y="31638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WebSocket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1624" y="3419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Real-time streaming chat connection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02752" y="3877056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21624" y="39136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remark-gfm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21624" y="4169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GitHub-flavored markdown table rendering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02752" y="4626864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21624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Custom LLM Factory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21624" y="4919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Swappable provider abstraction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02752" y="537667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21624" y="5413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Prompt Engineering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21624" y="566927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Context-aware table &amp; analytics prompts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Live Example — Finance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FinanceData_MultiTab.xlsx — 6 tabs, 2,530 rows, real FK relationships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9784080" y="228600"/>
            <a:ext cx="17373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246888"/>
            <a:ext cx="164591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DEMO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</a:rPr>
              <a:t>DATASET 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36576" cy="7040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63040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813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200 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44475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70078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customer_id, segment, city, credit_score, annual_income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212848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212848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258568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27685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350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2402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Accounts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49631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account_id, customer_id, type, balance, interest_rate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08376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008376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054096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07238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1,000 rows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03580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Transactions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32918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transaction_id, account_id, date, amount, DR/CR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803904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803904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849624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3867911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180 rows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38313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Loans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40873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loan_id, customer_id, type, amount, outstanding, dpd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599432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599432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4645152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66344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600 rows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462686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Loan_Payments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488289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payment_id, loan_id, date, scheduled, amount_paid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394959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94959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440679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458967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200 rows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542239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Portfolio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567842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customer_id, total_balance, total_loans, net_worth, LTV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109728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</a:rPr>
              <a:t>FK RELATIONSHIPS DETECTED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1417320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09360" y="1417320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14630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Accounts.customer_id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14630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8280" y="14630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Customers.customer_id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17373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One customer, many accounts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2350008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09360" y="2350008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239572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Transactions.account_id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23957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280" y="239572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Accounts.account_id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26700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One account, many transactions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3282696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09360" y="3282696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332841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Loans.customer_id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3284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332841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Customers.customer_id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6520" y="360273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One customer, many loans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4215384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09360" y="4215384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42611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Loan_Payments.loan_id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42611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42611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Loans.loan_id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53542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One loan, many payments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5148072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309360" y="5148072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46520" y="51937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Portfolio.customer_id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86800" y="51937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51937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Customers.customer_id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6520" y="546811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Aggregated view per customer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Roadmap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What's live today and where PulseAI goes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9784080" y="228600"/>
            <a:ext cx="173736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246888"/>
            <a:ext cx="164591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365760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v1.0 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62763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66420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168249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66420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Multi-tab Excel + CSV upload &amp; parsing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2331720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2368296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386584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368296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Executive Dashboard with 6 auto-charts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3035808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072384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0906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072384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AI Chat with table &amp; analytics answers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739896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0352" y="3776472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3794759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776472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Analyst Workbench self-service charts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4443984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0352" y="4480560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4498848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4805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GPT-4o narrative + insight engine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514807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" y="518464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520293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18464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FK relationship auto-detection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1097280"/>
            <a:ext cx="365760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9392" y="1097280"/>
            <a:ext cx="36576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16552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v1.5  Q3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162763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43984" y="166420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9704" y="168249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2" y="166420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PDF &amp; Google Sheets connector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2331720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43984" y="2368296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9704" y="2386584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9512" y="2368296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Export charts to PowerPoint / PDF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035808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43984" y="3072384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89704" y="30906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9512" y="3072384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Scheduled email reports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3739896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43984" y="3776472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9704" y="3794759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2" y="3776472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Multi-user workspaces &amp; roles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0" y="4443984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4480560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9704" y="4498848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39512" y="44805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Natural language chart builder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514807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43984" y="518464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89704" y="520293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9512" y="518464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Data quality scoring dashboard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93024" y="1097280"/>
            <a:ext cx="365760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93024" y="1097280"/>
            <a:ext cx="3657600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30184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</a:rPr>
              <a:t>v2.0  Q4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02752" y="162763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57616" y="166420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03336" y="168249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53144" y="166420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PostgreSQL &amp; Snowflake connectors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02752" y="2331720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357616" y="2368296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403336" y="2386584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53144" y="2368296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Agent-based multi-step data queries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02752" y="3035808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357616" y="3072384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03336" y="30906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53144" y="3072384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Real-time streaming data support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02752" y="3739896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357616" y="3776472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03336" y="3794759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53144" y="3776472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Fine-tuned domain LLM (Finance/HR)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02752" y="4443984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357616" y="4480560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3336" y="4498848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53144" y="44805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Azure Container Apps deployment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02752" y="514807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357616" y="518464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03336" y="520293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53144" y="518464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SOC 2 &amp; GDPR compliance module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Ready to transform
your data into decisions?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B82F6"/>
                </a:solidFill>
              </a:rPr>
              <a:t>PulseAI is live, running, and ready for your data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Upload any Excel or CSV file — and walk away with
KPIs, charts, AI narrative, and actionable insights in under 2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566160"/>
            <a:ext cx="2560320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6301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Try Live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566160"/>
            <a:ext cx="256032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36301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BD5E1"/>
                </a:solidFill>
              </a:rPr>
              <a:t>View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React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FastAPI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GPT-4o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SQLite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Plotly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Tailwind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11274552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035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PulseAI  |  Enterprise Data Analytics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509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Built with React 18 + FastAPI + GPT-4o  |  Accenture GenAI Gateway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</a:rPr>
              <a:t>Confidential — For internal use and customer briefings 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731520"/>
            <a:ext cx="237744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0" y="731520"/>
            <a:ext cx="237744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4040" y="84124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</a:rPr>
              <a:t>AT A GLANCE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1188720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28048" y="121615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8048" y="14356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Core Features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719072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28048" y="174650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8048" y="1965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Chart Types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2249424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28048" y="2276856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8048" y="24963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Excel Tabs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779776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8048" y="280720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3026663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AI Questions/Tab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3310128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28048" y="333756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GPT-4o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28048" y="3557015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AI Engine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840480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28048" y="38679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&lt; 2min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8048" y="40873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Time to Insight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18320" y="4370831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8048" y="439826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Zero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28048" y="4617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Code Required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4901183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28048" y="4928616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28048" y="51480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Browser-Based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