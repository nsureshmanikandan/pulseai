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548640"/>
            <a:ext cx="82296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943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PulseAI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1704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B82F6"/>
                </a:solidFill>
              </a:rPr>
              <a:t>Data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Turn Raw Data Into
Decisions — Instantly.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Enterprise-grade AI analytics platform that transforms
Excel &amp; CSV files into executive dashboards, AI-powered
insights, and interactive data stories — in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029200"/>
            <a:ext cx="15544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029200"/>
            <a:ext cx="36576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50474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3,411+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3218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Rows Analyzed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5029200"/>
            <a:ext cx="15544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40280" y="5029200"/>
            <a:ext cx="36576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0008" y="50474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0008" y="53218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Excel Tabs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5029200"/>
            <a:ext cx="15544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7639" y="5029200"/>
            <a:ext cx="36576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87368" y="50474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GPT-4o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7368" y="53218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AI 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28600"/>
            <a:ext cx="5577840" cy="6400800"/>
          </a:xfrm>
          <a:prstGeom prst="rect">
            <a:avLst/>
          </a:prstGeom>
          <a:solidFill>
            <a:srgbClr val="06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28600"/>
            <a:ext cx="36576" cy="640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0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LIVE DEMO SNAPSHOT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731520"/>
            <a:ext cx="16459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731520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7498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</a:rPr>
              <a:t>$743.9M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1115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Total Outstanding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731520"/>
            <a:ext cx="16459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19" y="731520"/>
            <a:ext cx="36576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7" y="7498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F4444"/>
                </a:solidFill>
              </a:rPr>
              <a:t>34%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7" y="1115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Default+Watch Rate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0" y="731520"/>
            <a:ext cx="164592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0" y="731520"/>
            <a:ext cx="36576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68128" y="7498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0B981"/>
                </a:solidFill>
              </a:rPr>
              <a:t>657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8128" y="1115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Avg Credit Score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1737360"/>
            <a:ext cx="512064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17830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Distribution of Principal Amount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3154679"/>
            <a:ext cx="329184" cy="182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86016" y="2953512"/>
            <a:ext cx="329184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88352" y="2752344"/>
            <a:ext cx="329184" cy="5852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90688" y="2551176"/>
            <a:ext cx="329184" cy="78638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93024" y="2350008"/>
            <a:ext cx="329184" cy="9875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95360" y="3154679"/>
            <a:ext cx="329184" cy="182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97696" y="2953512"/>
            <a:ext cx="329184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00032" y="2752344"/>
            <a:ext cx="329184" cy="5852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02368" y="2551176"/>
            <a:ext cx="329184" cy="78638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204704" y="2350008"/>
            <a:ext cx="329184" cy="9875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607040" y="3154679"/>
            <a:ext cx="329184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009376" y="2953512"/>
            <a:ext cx="329184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3749039"/>
            <a:ext cx="51206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37947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Loan Status Breakdown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4160520"/>
            <a:ext cx="2468879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41605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PAIDOFF  60%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4572000"/>
            <a:ext cx="82296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0" y="45720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COLLECTION  20%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4983480"/>
            <a:ext cx="82296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0" y="49834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COL_PAIDOFF  20%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Powered by GPT-4o  |  Accenture GenAI Gateway  |  Built on React +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Why organizations struggle with their data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16459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246888"/>
            <a:ext cx="1554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CHALLENGE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0789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36576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161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17957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Trapped in Spreadsheets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41732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Finance teams spend 70% of their time manually formatting Excel files rather than making decisions from the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01368"/>
            <a:ext cx="10789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01368"/>
            <a:ext cx="36576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87451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1837943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Benefits Locked Behind Technical Barriers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07568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Data science queries, Python notebooks, and SQL skills are required just to answer a simple business question.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59736"/>
            <a:ext cx="10789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459736"/>
            <a:ext cx="36576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53288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4963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Slow Time-to-Insight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73405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Executive reports take days to prepare. By the time insights reach leadership, the window for action has passed.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18104"/>
            <a:ext cx="10789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118104"/>
            <a:ext cx="36576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19125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1546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 Cross-Tab Relationship Visibility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339242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Multi-sheet Excel workbooks contain hidden relationships between data — but no tool surfaces them automatically.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76472"/>
            <a:ext cx="1078992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776472"/>
            <a:ext cx="36576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384962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8130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Generic Dashboards, Not Business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050791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Existing BI tools show charts but cannot explain what the data means in plain English for non-technical stakeholders.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126480"/>
            <a:ext cx="11247120" cy="502920"/>
          </a:xfrm>
          <a:prstGeom prst="rect">
            <a:avLst/>
          </a:prstGeom>
          <a:solidFill>
            <a:srgbClr val="3B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1722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CA5A5"/>
                </a:solidFill>
              </a:rPr>
              <a:t>Result: Missed opportunities, delayed decisions, and a growing gap between data availability and business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Introducing PulseAI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One platform. Any data file. Instant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16459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246888"/>
            <a:ext cx="1554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10312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2103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Drag &amp; drop Excel
or CSV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286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79" y="1188720"/>
            <a:ext cx="210312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79" y="1188720"/>
            <a:ext cx="21031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325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240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Auto schema detect
+ relationship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286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</a:rPr>
              <a:t>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188720"/>
            <a:ext cx="210312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18872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325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VISUALIZE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240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6+ auto-charts
+ KPI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286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-&gt;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19" y="1188720"/>
            <a:ext cx="210312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19" y="118872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59" y="1325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59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ASK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59" y="2240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Natural language
questions &amp; tables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59" y="2286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-&gt;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1188720"/>
            <a:ext cx="210312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92640" y="1188720"/>
            <a:ext cx="21031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1325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F4444"/>
                </a:solidFill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1783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DECIDE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240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Actionable insights
in plain English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480560"/>
            <a:ext cx="27432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480560"/>
            <a:ext cx="36576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526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&lt; 2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892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Time to first insight after upload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4480560"/>
            <a:ext cx="27432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1840" y="4480560"/>
            <a:ext cx="36576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4526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Zero 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4892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No SQL, Python, or BI training needed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480560"/>
            <a:ext cx="27432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4480560"/>
            <a:ext cx="36576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4526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GPT-4o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4892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Powered by frontier AI for accurate analysis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4480560"/>
            <a:ext cx="27432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0" y="4480560"/>
            <a:ext cx="36576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4526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Any 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4892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Finance, HR, Sales, Operations — all domains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577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CBD5E1"/>
                </a:solidFill>
              </a:rPr>
              <a:t>PulseAI bridges the gap between raw data files and confident business decisions — for every user, not just data scientists.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Modern cloud-native stack — React frontend + FastAPI backend + GPT-4o AI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228600"/>
            <a:ext cx="192024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246888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114300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4864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161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FRONTEND  (React 18 + Vite + TypeScript)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270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Executive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099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Analyst Workbench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9280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AI Chat (WebSocket)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Data Sources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5270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Zustand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7099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Plotly.js 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89280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ReactMarkdown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075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Tailwind CSS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96312"/>
            <a:ext cx="114300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496312"/>
            <a:ext cx="54864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5694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BACKEND API  (FastAPI + Python 3.13)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8803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/api/datasets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0632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/api/analytics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2461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/api/ai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4290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/ws/chat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8803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SQLAlchemy 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0632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Uvicorn ASGI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2461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Pydantic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4290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CORS middleware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849624"/>
            <a:ext cx="114300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849624"/>
            <a:ext cx="54864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9227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AI ENGINE  (Accenture GenAI Gateway)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336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GPT-4o 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4165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Narrative Generator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5994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Insight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78231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Suggested Questions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2336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AccentureLbpassLLM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4165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lbpass API key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45994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Azure OpenAI endpoint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478231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Streaming support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202936"/>
            <a:ext cx="114300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5202936"/>
            <a:ext cx="54864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2760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DATA LAYER  (SQLite + Local Storage)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586983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Dataset registry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7698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Tab profiles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95274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Relationships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135623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Chat sessions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5586983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openpyxl parser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57698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pandas DataFrames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595274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Schema detector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6135623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| Relationship finder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338560" y="1143000"/>
            <a:ext cx="502920" cy="541324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292840" y="3291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DATA FLOW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2148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84280" y="35021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84280" y="48554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Feature 1 — Executive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Auto-generated KPIs, AI narrative, and 6 chart types from any uploaded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228600"/>
            <a:ext cx="192024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246888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LIVE 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6858000" cy="5394960"/>
          </a:xfrm>
          <a:prstGeom prst="rect">
            <a:avLst/>
          </a:prstGeom>
          <a:solidFill>
            <a:srgbClr val="06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Banking_LoanPortfolio.xlsx  |  Loans tab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15087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91056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$743.9M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0195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Total Outstanding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1554480"/>
            <a:ext cx="15087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1591056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34%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190195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Default+Watch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1554480"/>
            <a:ext cx="15087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1591056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657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90195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Avg Credit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0680" y="1554480"/>
            <a:ext cx="15087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1591056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80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90195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Avg DPD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487168"/>
            <a:ext cx="65836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487168"/>
            <a:ext cx="36576" cy="685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5237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AI Narrative: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27614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BD5E1"/>
                </a:solidFill>
              </a:rPr>
              <a:t>"Banking_LoanPortfolio.xlsx / Loans shows a Default+Watch Rate of 34.0% with $743.9M total outstanding. Average credit score is 657 and average DPD is 80 days. Outliers detected in outstanding_balance and EMI — these may warrant risk escalation."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91840"/>
            <a:ext cx="310896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3375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Principal Distribution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24527"/>
            <a:ext cx="292608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7552" y="4059935"/>
            <a:ext cx="292608" cy="30175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35024" y="3895344"/>
            <a:ext cx="292608" cy="4663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82496" y="3730751"/>
            <a:ext cx="292608" cy="6309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29968" y="4224527"/>
            <a:ext cx="292608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77440" y="4059935"/>
            <a:ext cx="292608" cy="30175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24912" y="3895344"/>
            <a:ext cx="292608" cy="4663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72384" y="3730751"/>
            <a:ext cx="292608" cy="6309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0" y="3291840"/>
            <a:ext cx="3108960" cy="1280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33375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Loan Status Breakdown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77640" y="3639312"/>
            <a:ext cx="1645919" cy="2377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77640" y="3931920"/>
            <a:ext cx="548640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77640" y="4224528"/>
            <a:ext cx="548640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11155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B82F6"/>
                </a:solidFill>
              </a:rPr>
              <a:t>WHAT YOU GET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79" y="1463040"/>
            <a:ext cx="4389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79" y="1463040"/>
            <a:ext cx="36576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7808" y="14813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KPI Cards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07808" y="17373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Smart KPI engine: rate KPIs from status columns, currency totals, score averages — color-coded red/green/blue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2212848"/>
            <a:ext cx="4389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98079" y="2212848"/>
            <a:ext cx="36576" cy="6583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7808" y="223113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AI Narrative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07808" y="24871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GPT-4o writes a plain-English paragraph describing the dataset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79" y="2962656"/>
            <a:ext cx="4389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98079" y="2962656"/>
            <a:ext cx="36576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07808" y="29809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6 Chart Types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07808" y="323697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Histogram, scatter, heatmap, box plots, bar, donut — all automatic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98079" y="3712464"/>
            <a:ext cx="4389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98079" y="3712464"/>
            <a:ext cx="36576" cy="6583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07808" y="373075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Outlier Alerts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07808" y="398678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Flags anomalies and statistical warnings in the data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79" y="4462272"/>
            <a:ext cx="4389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98079" y="4462272"/>
            <a:ext cx="36576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07808" y="44805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Tab Switching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07808" y="473659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Navigate between Excel tabs — each gets its own full dashboard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98079" y="5212079"/>
            <a:ext cx="4389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98079" y="5212079"/>
            <a:ext cx="36576" cy="6583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07808" y="52303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Animated Loading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7808" y="54864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Enterprise-grade shimmer skeletons and progress bar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Feature 2 — AI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Ask questions in plain English — get tables, insights, and analysis powered by GPT-4o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228600"/>
            <a:ext cx="210312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4040" y="246888"/>
            <a:ext cx="201167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GPT-4o POWERED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6858000" cy="5394960"/>
          </a:xfrm>
          <a:prstGeom prst="rect">
            <a:avLst/>
          </a:prstGeom>
          <a:solidFill>
            <a:srgbClr val="06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AI Chat  |  FinanceData_MultiTab.xlsx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43000"/>
            <a:ext cx="1005840" cy="274320"/>
          </a:xfrm>
          <a:prstGeom prst="rect">
            <a:avLst/>
          </a:prstGeom>
          <a:solidFill>
            <a:srgbClr val="054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59" y="116128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0B981"/>
                </a:solidFill>
              </a:rPr>
              <a:t>Connected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08760"/>
            <a:ext cx="65836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361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SUGGESTED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755648"/>
            <a:ext cx="150876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8105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Top 10 by Principal?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1755648"/>
            <a:ext cx="150876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8568" y="18105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Default customers 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1755648"/>
            <a:ext cx="150876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58768" y="18105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Credit score dist.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1755648"/>
            <a:ext cx="150876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58968" y="18105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Group by loan 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487168"/>
            <a:ext cx="4114800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254203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Show top 10 loans by outstanding_balance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35808"/>
            <a:ext cx="65836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0906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090672"/>
            <a:ext cx="41148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0723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Top 10 Loans by Outstanding Balance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401568"/>
            <a:ext cx="64008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419856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B82F6"/>
                </a:solidFill>
              </a:rPr>
              <a:t>LOAN_ID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82496" y="3419856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B82F6"/>
                </a:solidFill>
              </a:rPr>
              <a:t>CUSTOMER_ID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6624" y="3419856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B82F6"/>
                </a:solidFill>
              </a:rPr>
              <a:t>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0752" y="3419856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B82F6"/>
                </a:solidFill>
              </a:rPr>
              <a:t>AMOUNT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419856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B82F6"/>
                </a:solidFill>
              </a:rPr>
              <a:t>OUTSTANDING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79008" y="3419856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B82F6"/>
                </a:solidFill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3703320"/>
            <a:ext cx="64008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730752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L00042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82496" y="3730752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C00182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06624" y="3730752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Mortgage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0752" y="3730752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$500K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3730752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$478K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79008" y="3730752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4032504"/>
            <a:ext cx="640080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059936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L00091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82496" y="4059936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C00034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06624" y="4059936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30752" y="4059936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$250K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4059936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$241K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79008" y="4059936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4361688"/>
            <a:ext cx="64008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389120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L00017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82496" y="4389120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C00156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06624" y="4389120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Mortgage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30752" y="4389120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$250K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4389120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$237K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79008" y="4389120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59E0B"/>
                </a:solidFill>
              </a:rPr>
              <a:t>Watch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4690872"/>
            <a:ext cx="640080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4718304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L00063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82496" y="4718304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C00099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06624" y="4718304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Personal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30752" y="4718304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$100K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54880" y="4718304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$98K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79008" y="4718304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F4444"/>
                </a:solidFill>
              </a:rPr>
              <a:t>Default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5020056"/>
            <a:ext cx="6400800" cy="3108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" y="5047488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L00128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82496" y="5047488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C00071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06624" y="5047488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30752" y="5047488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$50K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54880" y="5047488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$49K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79008" y="5047488"/>
            <a:ext cx="960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" y="5440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Total: 10 loans shown | Combined outstanding: $1.23M | 2 require immediate attention (Watch/Default)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8079" y="11155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</a:rPr>
              <a:t>CAPABILITIES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98079" y="1463040"/>
            <a:ext cx="4389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98079" y="1463040"/>
            <a:ext cx="36576" cy="6583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07808" y="14813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Table Queries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07808" y="17373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Show top/bottom N, filter by condition, group-by, cross-tab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98079" y="2212848"/>
            <a:ext cx="4389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498079" y="2212848"/>
            <a:ext cx="36576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607808" y="223113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Smart Detection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07808" y="24871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Detects question type — analytics vs tabular — automatically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98079" y="2962656"/>
            <a:ext cx="4389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98079" y="2962656"/>
            <a:ext cx="36576" cy="6583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607808" y="29809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Real Data Rows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07808" y="323697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Pre-filters actual DataFrame before sending to GPT-4o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98079" y="3712464"/>
            <a:ext cx="4389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498079" y="3712464"/>
            <a:ext cx="36576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607808" y="373075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10 Smart Questions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07808" y="398678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Dataset-specific questions generated on upload per tab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498079" y="4462272"/>
            <a:ext cx="4389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498079" y="4462272"/>
            <a:ext cx="36576" cy="6583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07808" y="44805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GFM Tables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07808" y="473659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Markdown tables rendered with zebra rows and hover highlights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498079" y="5212079"/>
            <a:ext cx="438912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98079" y="5212079"/>
            <a:ext cx="36576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607808" y="52303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NLP Summary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07808" y="54864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Every table answer includes a plain-English insight paragraph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Feature 3 — Analyst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Build any custom chart with point-and-click column selection — no code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228600"/>
            <a:ext cx="192024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246888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SELF-SERVICE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6858000" cy="5394960"/>
          </a:xfrm>
          <a:prstGeom prst="rect">
            <a:avLst/>
          </a:prstGeom>
          <a:solidFill>
            <a:srgbClr val="06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Analyst Workbench  |  Loans tab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658368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5727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CHART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5727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X 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5727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Y AXIS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792224"/>
            <a:ext cx="13716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1792224"/>
            <a:ext cx="13716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1792224"/>
            <a:ext cx="13716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181051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Bar Chart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81051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loan_type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81051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outstanding_balance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1719072"/>
            <a:ext cx="1371600" cy="4389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179222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Generate Chart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267712"/>
            <a:ext cx="6583680" cy="3931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3408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Outstanding Balance by Loan 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763670"/>
            <a:ext cx="822960" cy="1997049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8064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CBD5E1"/>
                </a:solidFill>
              </a:rPr>
              <a:t>Personal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91639" y="3405225"/>
            <a:ext cx="822960" cy="235549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91639" y="58064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CBD5E1"/>
                </a:solidFill>
              </a:rPr>
              <a:t>Mortgage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24911" y="4608576"/>
            <a:ext cx="822960" cy="11521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24911" y="58064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CBD5E1"/>
                </a:solidFill>
              </a:rPr>
              <a:t>Auto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58183" y="3507638"/>
            <a:ext cx="822960" cy="2253081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58183" y="58064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CBD5E1"/>
                </a:solidFill>
              </a:rPr>
              <a:t>Business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91455" y="4173321"/>
            <a:ext cx="822960" cy="158739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5" y="58064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CBD5E1"/>
                </a:solidFill>
              </a:rPr>
              <a:t>Education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24727" y="4864608"/>
            <a:ext cx="822960" cy="896111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24727" y="58064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CBD5E1"/>
                </a:solidFill>
              </a:rPr>
              <a:t>Revolving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11155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</a:rPr>
              <a:t>AVAILABLE CHART TYPES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1463040"/>
            <a:ext cx="21031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79" y="1463040"/>
            <a:ext cx="36576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07807" y="15361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7807" y="18653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Compare categories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84080" y="1463040"/>
            <a:ext cx="21031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84080" y="1463040"/>
            <a:ext cx="36576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93807" y="15361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Scatter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3807" y="18653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Find correlations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79" y="2377440"/>
            <a:ext cx="21031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98079" y="2377440"/>
            <a:ext cx="36576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07807" y="2450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Histogram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07807" y="27797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View distributions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84080" y="2377440"/>
            <a:ext cx="21031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84080" y="2377440"/>
            <a:ext cx="36576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93807" y="2450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Box Plot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93807" y="27797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Detect outliers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3291840"/>
            <a:ext cx="21031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98079" y="3291840"/>
            <a:ext cx="36576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07807" y="33649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Heatmap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07807" y="36941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Correlation matrix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84080" y="3291840"/>
            <a:ext cx="210312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84080" y="3291840"/>
            <a:ext cx="36576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93807" y="33649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Pie / Donut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3807" y="369417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Show proportions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79" y="4315968"/>
            <a:ext cx="4389120" cy="1280160"/>
          </a:xfrm>
          <a:prstGeom prst="rect">
            <a:avLst/>
          </a:prstGeom>
          <a:solidFill>
            <a:srgbClr val="05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498079" y="4315968"/>
            <a:ext cx="36576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07808" y="43708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Self-Service Analytics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07808" y="46634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BD5E1"/>
                </a:solidFill>
              </a:rPr>
              <a:t>Any analyst can build production-quality charts
without waiting for a data science team.
Point, click, and generate — instantly.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Business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Real-world scenarios where PulseAI delivers immediate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4080" y="228600"/>
            <a:ext cx="17373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246888"/>
            <a:ext cx="16459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USE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577840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5778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52728"/>
            <a:ext cx="2286000" cy="347472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71016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</a:rPr>
              <a:t>Banking &amp; Financial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Risk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3911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Upload Banking_LoanPortfolio.xlsx (5 tabs, 1,820 rows). Instantly identify
default-risk customers, outstanding balance concentration, and DPD trends.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15768"/>
            <a:ext cx="1645920" cy="6583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275234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34%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4495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Default+Watch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715768"/>
            <a:ext cx="1645920" cy="6583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9152" y="275234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$743.9M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304495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Outstanding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2715768"/>
            <a:ext cx="1645920" cy="6583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42232" y="275234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657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2232" y="304495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Avg Credit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17099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B82F6"/>
                </a:solidFill>
              </a:rPr>
              <a:t>-&gt; 34% Default+Watch Rate detected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13969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B82F6"/>
                </a:solidFill>
              </a:rPr>
              <a:t>-&gt; Portfolio concentration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56946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B82F6"/>
                </a:solidFill>
              </a:rPr>
              <a:t>-&gt; Credit score 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29992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B82F6"/>
                </a:solidFill>
              </a:rPr>
              <a:t>-&gt; Cross-tab: loan type vs 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143000"/>
            <a:ext cx="5577840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143000"/>
            <a:ext cx="5577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252728"/>
            <a:ext cx="2286000" cy="347472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1271016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</a:rPr>
              <a:t>Insurance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Claims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03911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Analyze Insurance_Claims.xlsx (4 tabs, 1,230 rows). Spot high-frequency
claimants, fraud indicators, and seasonal patterns without any SQL.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2715768"/>
            <a:ext cx="1645920" cy="6583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275234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304495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Fraud Flagged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2715768"/>
            <a:ext cx="1645920" cy="6583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275234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304495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Indicators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21240" y="2715768"/>
            <a:ext cx="1645920" cy="6583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94392" y="275234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61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94392" y="304495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Avg Processing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17099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</a:rPr>
              <a:t>-&gt; 40% claims flagged for fraud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13969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</a:rPr>
              <a:t>-&gt; 180 fraud indicators found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256946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</a:rPr>
              <a:t>-&gt; 17.3% rejection 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29992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</a:rPr>
              <a:t>-&gt; 61-day avg processing time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840480"/>
            <a:ext cx="5577840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3840480"/>
            <a:ext cx="557784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3950208"/>
            <a:ext cx="2286000" cy="347472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968496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66F1"/>
                </a:solidFill>
              </a:rPr>
              <a:t>Retail &amp; E-Commerce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389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Sales Performance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473659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Drop in Retail_Sales.xlsx (5 tabs, 3,062 rows). Get revenue KPIs,
top/bottom performers, regional breakdowns, and AI-written summaries.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413248"/>
            <a:ext cx="1645920" cy="6583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" y="544982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21.4%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" y="574243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Return Rate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0" y="5413248"/>
            <a:ext cx="1645920" cy="6583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59152" y="544982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$401.1M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59152" y="574243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Revenue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69080" y="5413248"/>
            <a:ext cx="1645920" cy="6583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42232" y="544982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16.4%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42232" y="574243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Cancelled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44074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366F1"/>
                </a:solidFill>
              </a:rPr>
              <a:t>-&gt; 21.4% return rate detected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40480" y="483717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366F1"/>
                </a:solidFill>
              </a:rPr>
              <a:t>-&gt; Top 3 categories nearly equal share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0" y="526694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366F1"/>
                </a:solidFill>
              </a:rPr>
              <a:t>-&gt; $401.1M total line revenue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0480" y="56967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366F1"/>
                </a:solidFill>
              </a:rPr>
              <a:t>-&gt; 16.4% cancelled order rate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17920" y="3840480"/>
            <a:ext cx="5577840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17920" y="3840480"/>
            <a:ext cx="5577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09360" y="3950208"/>
            <a:ext cx="2286000" cy="347472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55080" y="3968496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HR &amp; Workforce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55080" y="4389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People Analytics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55080" y="473659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Upload HR_Workforce.xlsx (5 tabs, 3,411 rows). Identify attrition risks,
compensation outliers, and diversity metrics in minutes.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55080" y="5413248"/>
            <a:ext cx="1645920" cy="6583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28232" y="544982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66.8%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28232" y="574243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Active Rate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38160" y="5413248"/>
            <a:ext cx="1645920" cy="6583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11312" y="544982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$548.3M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11312" y="574243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Payroll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921240" y="5413248"/>
            <a:ext cx="1645920" cy="6583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994392" y="5449824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1.09x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94392" y="574243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Pay Gap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92640" y="44074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-&gt; 66.8% active employee rate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92640" y="483717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-&gt; 5 departments at attrition risk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92640" y="526694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-&gt; 1.09x gender pay gap detected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92640" y="56967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-&gt; $548.3M total payroll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ROI &amp; Business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Quantified value delivered to teams and leadership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228600"/>
            <a:ext cx="100584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1320" y="246888"/>
            <a:ext cx="9144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ROI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2743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B82F6"/>
                </a:solidFill>
              </a:rP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Time to insight vs manual Excel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097280"/>
            <a:ext cx="2743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097280"/>
            <a:ext cx="27432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20700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</a:rPr>
              <a:t>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0116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No SQL, Python, or BI tool training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2743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097280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0700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</a:rPr>
              <a:t>&lt;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116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From file upload to first actionable insight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097280"/>
            <a:ext cx="2743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1097280"/>
            <a:ext cx="27432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120700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6366F1"/>
                </a:solidFill>
              </a:rPr>
              <a:t>10x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more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0116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Questions answered per analyst per 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834640"/>
            <a:ext cx="55778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834640"/>
            <a:ext cx="36576" cy="1691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9260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For Business Leaders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2918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Board-ready dashboards in minutes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5661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+ AI-written narrative — no analyst needed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8404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+ Confident decisions from real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1148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+ All tabs in one unified 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834640"/>
            <a:ext cx="55778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834640"/>
            <a:ext cx="36576" cy="1691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9260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For Data Analysts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2918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Skip manual chart building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5661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+ Self-service — no IT dependency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8404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+ Custom charts with 2 clicks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1148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+ Export-ready Plotly visualizations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709160"/>
            <a:ext cx="55778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709160"/>
            <a:ext cx="36576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8006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For IT &amp; Data Teams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1663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Zero infrastructure change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4406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+ Works with existing Excel/CSV files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715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+ SQLite local DB — no data leaves your env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9893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+ Pluggable LLM — swap GPT-4o anytime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709160"/>
            <a:ext cx="557784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4709160"/>
            <a:ext cx="36576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48006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For Finance &amp;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51663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+ Instant loan portfolio risk 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54406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+ Default &amp; outlier auto-detection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5715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+ Cross-tab drill-down without SQL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59893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</a:rPr>
              <a:t>+ Regulatory-ready audit tables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Enterprise-grade, cloud-native, production-ready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228600"/>
            <a:ext cx="192024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246888"/>
            <a:ext cx="18288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65760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3657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627632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64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React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UI framework with hooks &amp; Zustand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377440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140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700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Type-safe component development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3127248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638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Vite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4198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Lightning-fast dev server &amp; bundler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877056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13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Tailwind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1696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Utility-first dark-mode design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4626864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Plotly.js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9194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Interactive charts &amp; visualizations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5376672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413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react-markdown + GFM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669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Formatted AI responses with tables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2" y="1097280"/>
            <a:ext cx="365760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1097280"/>
            <a:ext cx="36576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16552" y="11887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</a:rPr>
              <a:t>BACKEND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1627632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7992" y="1664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1920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Async Python REST + WebSocket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2377440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7992" y="24140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SQLAlchemy 2.x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7992" y="26700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ORM with SQLite (local) / PostgreSQL (prod)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3127248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07992" y="31638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Uvicorn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7992" y="34198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ASGI server — production-grade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3877056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07992" y="3913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Pydantic v2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07992" y="41696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Data validation &amp; settings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4626864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07992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pandas 2.2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07992" y="49194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DataFrame processing &amp; analysis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0" y="5376672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07992" y="5413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openpyxl 3.1.5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07992" y="5669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Excel file parsing (multi-tab support)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93024" y="1097280"/>
            <a:ext cx="365760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93024" y="109728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30184" y="118872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AI &amp; INTEGRATION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02752" y="1627632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21624" y="1664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GPT-4o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21624" y="1920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Frontier LLM for analysis &amp; narrative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02752" y="2377440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21624" y="24140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Accenture lbpass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21624" y="26700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Enterprise GenAI gateway (secure)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02752" y="3127248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21624" y="31638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WebSocket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21624" y="34198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Real-time streaming chat connection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02752" y="3877056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21624" y="3913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remark-gfm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21624" y="41696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GitHub-flavored markdown table rendering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02752" y="4626864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21624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Custom LLM Factory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21624" y="49194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Swappable provider abstraction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02752" y="5376672"/>
            <a:ext cx="3438144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21624" y="5413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Prompt Engineering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21624" y="5669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Context-aware table &amp; analytics prompts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Live Example — Banking Loan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Banking_LoanPortfolio.xlsx — 5 tabs, 1,820 rows, real FK relationships auto-detected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4080" y="228600"/>
            <a:ext cx="173736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246888"/>
            <a:ext cx="16459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</a:rPr>
              <a:t>BANKING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DATASET 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7040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36576" cy="7040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86868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9E0B"/>
                </a:solidFill>
              </a:rPr>
              <a:t>200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44475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70078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customer_id, full_name, age, segment, city, annual_income, kyc_status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12848"/>
            <a:ext cx="5486400" cy="7040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212848"/>
            <a:ext cx="36576" cy="7040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258568"/>
            <a:ext cx="86868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27685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9E0B"/>
                </a:solidFill>
              </a:rPr>
              <a:t>300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2402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49631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loan_id, customer_id, loan_type, outstanding_balance, dpd, loan_status, credit_score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08376"/>
            <a:ext cx="5486400" cy="7040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008376"/>
            <a:ext cx="36576" cy="7040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054096"/>
            <a:ext cx="86868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07238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9E0B"/>
                </a:solidFill>
              </a:rPr>
              <a:t>900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0358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Loan_Payments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32918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payment_id, loan_id, scheduled_emi, amount_paid, delay_days, payment_status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803904"/>
            <a:ext cx="5486400" cy="7040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803904"/>
            <a:ext cx="36576" cy="7040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849624"/>
            <a:ext cx="86868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867911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9E0B"/>
                </a:solidFill>
              </a:rPr>
              <a:t>200 rows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383133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Credit_Bureau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0873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customer_id, bureau_score, active_loans_count, credit_utilization_pct, dpd_30_count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599432"/>
            <a:ext cx="5486400" cy="7040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599432"/>
            <a:ext cx="36576" cy="7040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645152"/>
            <a:ext cx="868680" cy="2560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66344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9E0B"/>
                </a:solidFill>
              </a:rPr>
              <a:t>220 rows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62686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Collateral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488289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collateral_id, loan_id, collateral_type, market_value, ltv_ratio,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109728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FK RELATIONSHIPS DETECTED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1417320"/>
            <a:ext cx="548640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1417320"/>
            <a:ext cx="36576" cy="8046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14630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Loans.customer_id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146304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-&gt;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14630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Customers.customer_id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17373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BD5E1"/>
                </a:solidFill>
              </a:rPr>
              <a:t>One customer → many loans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2441448"/>
            <a:ext cx="548640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2441448"/>
            <a:ext cx="36576" cy="8046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24871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Loan_Payments.loan_id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248716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-&gt;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24871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Loans.loan_id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27614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BD5E1"/>
                </a:solidFill>
              </a:rPr>
              <a:t>One loan → many EMI payments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465576"/>
            <a:ext cx="548640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09360" y="3465576"/>
            <a:ext cx="36576" cy="8046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35112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Credit_Bureau.customer_id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351129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-&gt;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35112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Customers.customer_id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378561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BD5E1"/>
                </a:solidFill>
              </a:rPr>
              <a:t>Credit profile per customer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4489704"/>
            <a:ext cx="548640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09360" y="4489704"/>
            <a:ext cx="36576" cy="8046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45354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Collateral.loan_id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5354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-&gt;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45354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Loans.loan_id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6520" y="480974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BD5E1"/>
                </a:solidFill>
              </a:rPr>
              <a:t>Collateral pledged per loan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Roadmap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What's live today and where PulseAI goes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4080" y="228600"/>
            <a:ext cx="173736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246888"/>
            <a:ext cx="164591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6576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v1.0 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627632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664208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168249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66420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Multi-tab Excel + CSV upload &amp; parsing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2331720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" y="2368296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38658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6829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Executive Dashboard with 6 auto-charts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3035808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072384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30906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072384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AI Chat with table &amp; analytics answers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739896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3776472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794759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77647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Analyst Workbench self-service charts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" y="4443984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" y="4480560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449884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48056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GPT-4o narrative + insight engine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" y="5148072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" y="5184648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520293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0B981"/>
                </a:solidFill>
              </a:rPr>
              <a:t>Done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18464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FK relationship auto-detection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9392" y="1097280"/>
            <a:ext cx="36576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9392" y="109728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16552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v1.5  Q3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1627632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43984" y="1664208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9704" y="168249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3B82F6"/>
                </a:solidFill>
              </a:rPr>
              <a:t>Planned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9512" y="166420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PDF &amp; Google Sheets connector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2331720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43984" y="2368296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9704" y="238658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3B82F6"/>
                </a:solidFill>
              </a:rPr>
              <a:t>Planned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9512" y="236829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Export charts to PowerPoint / PDF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3035808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43984" y="3072384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9704" y="30906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3B82F6"/>
                </a:solidFill>
              </a:rPr>
              <a:t>Planned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9512" y="3072384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Scheduled email reports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3739896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43984" y="3776472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89704" y="3794759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3B82F6"/>
                </a:solidFill>
              </a:rPr>
              <a:t>Planned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9512" y="377647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Multi-user workspaces &amp; roles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89120" y="4443984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43984" y="4480560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89704" y="449884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3B82F6"/>
                </a:solidFill>
              </a:rPr>
              <a:t>Planned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512" y="448056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Natural language chart builder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5148072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43984" y="5184648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89704" y="520293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3B82F6"/>
                </a:solidFill>
              </a:rPr>
              <a:t>Planned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39512" y="518464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Data quality scoring dashboard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93024" y="1097280"/>
            <a:ext cx="36576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93024" y="1097280"/>
            <a:ext cx="36576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30184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</a:rPr>
              <a:t>v2.0  Q4 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02752" y="1627632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57616" y="1664208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03336" y="168249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366F1"/>
                </a:solidFill>
              </a:rPr>
              <a:t>Vision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53144" y="166420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PostgreSQL &amp; Snowflake connectors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02752" y="2331720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357616" y="2368296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03336" y="2386584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366F1"/>
                </a:solidFill>
              </a:rPr>
              <a:t>Vision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53144" y="236829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Agent-based multi-step data queries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02752" y="3035808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357616" y="3072384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03336" y="30906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366F1"/>
                </a:solidFill>
              </a:rPr>
              <a:t>Vision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53144" y="3072384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Real-time streaming data support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02752" y="3739896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57616" y="3776472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03336" y="3794759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366F1"/>
                </a:solidFill>
              </a:rPr>
              <a:t>Vision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53144" y="3776472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Fine-tuned domain LLM (Finance/HR)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02752" y="4443984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57616" y="4480560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03336" y="449884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366F1"/>
                </a:solidFill>
              </a:rPr>
              <a:t>Vision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53144" y="448056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Azure Container Apps deployment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02752" y="5148072"/>
            <a:ext cx="3438144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57616" y="5184648"/>
            <a:ext cx="685800" cy="201168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03336" y="520293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366F1"/>
                </a:solidFill>
              </a:rPr>
              <a:t>Vision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53144" y="5184648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SOC 2 &amp; GDPR compliance module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Ready to transform
your data into decisions?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</a:rPr>
              <a:t>PulseAI is live, running, and ready for your data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Upload any Excel or CSV file — and walk away with
KPIs, charts, AI narrative, and actionable insights in under 2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66160"/>
            <a:ext cx="25603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630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Try Live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3566160"/>
            <a:ext cx="256032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63016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BD5E1"/>
                </a:solidFill>
              </a:rPr>
              <a:t>View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72000"/>
            <a:ext cx="123444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BD5E1"/>
                </a:solidFill>
              </a:rPr>
              <a:t>React 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4572000"/>
            <a:ext cx="123444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4590288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BD5E1"/>
                </a:solidFill>
              </a:rPr>
              <a:t>FastAPI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4572000"/>
            <a:ext cx="123444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4590288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BD5E1"/>
                </a:solidFill>
              </a:rPr>
              <a:t>GPT-4o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4572000"/>
            <a:ext cx="123444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4590288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BD5E1"/>
                </a:solidFill>
              </a:rPr>
              <a:t>SQLite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572000"/>
            <a:ext cx="123444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4590288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BD5E1"/>
                </a:solidFill>
              </a:rPr>
              <a:t>Plotly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4572000"/>
            <a:ext cx="1234440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4590288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BD5E1"/>
                </a:solidFill>
              </a:rPr>
              <a:t>Tailwind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66360"/>
            <a:ext cx="11274552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03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PulseAI  |  Enterprise Data Analytics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6509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Built with React 18 + FastAPI + GPT-4o  |  Accenture GenAI Gateway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89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</a:rPr>
              <a:t>Confidential — For internal use and customer briefings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731520"/>
            <a:ext cx="237744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26880" y="731520"/>
            <a:ext cx="237744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8412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AT A GLANCE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1188720"/>
            <a:ext cx="21031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8048" y="121615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14356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Product Features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1719072"/>
            <a:ext cx="21031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28048" y="174650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8048" y="1965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Chart Types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2249424"/>
            <a:ext cx="21031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28048" y="227685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8048" y="2496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Excel Tabs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2779776"/>
            <a:ext cx="21031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28048" y="2807208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8048" y="3026663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AI Questions/Tab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3310128"/>
            <a:ext cx="21031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28048" y="333756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GPT-4o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8048" y="355701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AI Engine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20" y="3840480"/>
            <a:ext cx="21031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28048" y="386791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&lt; 2min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40873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Time to Insight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18320" y="4370831"/>
            <a:ext cx="21031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28048" y="439826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Zero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28048" y="4617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Code Required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4901183"/>
            <a:ext cx="21031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28048" y="49286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28048" y="5148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</a:rPr>
              <a:t>Industry Use Cases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